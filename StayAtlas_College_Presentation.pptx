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  <Relationship Id="rId10" Type="http://schemas.openxmlformats.org/officeDocument/2006/relationships/slide" Target="slides/slide9.xml"/>
  <Relationship Id="rId11" Type="http://schemas.openxmlformats.org/officeDocument/2006/relationships/slide" Target="slides/slide10.xml"/>
  <Relationship Id="rId12" Type="http://schemas.openxmlformats.org/officeDocument/2006/relationships/slide" Target="slides/slide11.xml"/>
  <Relationship Id="rId13" Type="http://schemas.openxmlformats.org/officeDocument/2006/relationships/slide" Target="slides/slide12.xml"/>
  <Relationship Id="rId14" Type="http://schemas.openxmlformats.org/officeDocument/2006/relationships/slide" Target="slides/slide13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 Master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1E2A39"/>
          </a:solidFill>
          <a:ln>
            <a:noFill/>
          </a:ln>
        </p:spPr>
      </p:sp>
      <p:sp>
        <p:nvSpPr>
          <p:cNvPr id="3" name="Accent Block"/>
          <p:cNvSpPr/>
          <p:nvPr/>
        </p:nvSpPr>
        <p:spPr>
          <a:xfrm>
            <a:off x="0" y="720000"/>
            <a:ext cx="1450000" cy="61400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Footer"/>
          <p:cNvSpPr/>
          <p:nvPr/>
        </p:nvSpPr>
        <p:spPr>
          <a:xfrm>
            <a:off x="0" y="6180000"/>
            <a:ext cx="12192000" cy="678000"/>
          </a:xfrm>
          <a:prstGeom prst="rect">
            <a:avLst/>
          </a:prstGeom>
          <a:solidFill>
            <a:srgbClr val="1E2A39"/>
          </a:solidFill>
          <a:ln>
            <a:noFill/>
          </a:ln>
        </p:spPr>
      </p:sp>
      <p:sp>
        <p:nvSpPr>
          <p:cNvPr id="5" name="Title"/>
          <p:cNvSpPr txBox="1"/>
          <p:nvPr/>
        </p:nvSpPr>
        <p:spPr>
          <a:xfrm>
            <a:off x="1850000" y="1020000"/>
            <a:ext cx="9300000" cy="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None/>
            </a:pPr>
            <a:r>
              <a:rPr lang="en-US" sz="2600" b="1">
                <a:solidFill>
                  <a:srgbClr val="1E2A39"/>
                </a:solidFill>
              </a:rPr>
              <a:t>StayAtlas Hotel Listing Website</a:t>
            </a:r>
            <a:endParaRPr lang="en-US" sz="2600"/>
          </a:p>
        </p:txBody>
      </p:sp>
      <p:sp>
        <p:nvSpPr>
          <p:cNvPr id="6" name="Subtitle"/>
          <p:cNvSpPr txBox="1"/>
          <p:nvPr/>
        </p:nvSpPr>
        <p:spPr>
          <a:xfrm>
            <a:off x="1850000" y="1880000"/>
            <a:ext cx="90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None/>
            </a:pPr>
            <a:r>
              <a:rPr lang="en-US" sz="1280" b="1">
                <a:solidFill>
                  <a:srgbClr val="0E7490"/>
                </a:solidFill>
              </a:rPr>
              <a:t>College Project Presentation</a:t>
            </a:r>
            <a:endParaRPr lang="en-US" sz="1280"/>
          </a:p>
        </p:txBody>
      </p:sp>
      <p:sp>
        <p:nvSpPr>
          <p:cNvPr id="7" name="Body"/>
          <p:cNvSpPr txBox="1"/>
          <p:nvPr/>
        </p:nvSpPr>
        <p:spPr>
          <a:xfrm>
            <a:off x="1850000" y="2480000"/>
            <a:ext cx="9300000" cy="30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Char char="•"/>
            </a:pPr>
            <a:r>
              <a:rPr lang="en-US" sz="1800" b="0">
                <a:solidFill>
                  <a:srgbClr val="2F3A44"/>
                </a:solidFill>
              </a:rPr>
              <a:t>A modular hotel discovery and booking web application built for smooth browsing and faster reservations.</a:t>
            </a:r>
            <a:endParaRPr lang="en-US" sz="1800"/>
          </a:p>
          <a:p>
            <a:pPr>
              <a:buChar char="•"/>
            </a:pPr>
            <a:r>
              <a:rPr lang="en-US" sz="1800" b="0">
                <a:solidFill>
                  <a:srgbClr val="2F3A44"/>
                </a:solidFill>
              </a:rPr>
              <a:t>Developed with Flask, SQLAlchemy, MySQL, HTML, CSS, and JavaScript.</a:t>
            </a:r>
            <a:endParaRPr lang="en-US" sz="1800"/>
          </a:p>
          <a:p>
            <a:pPr>
              <a:buChar char="•"/>
            </a:pPr>
            <a:r>
              <a:rPr lang="en-US" sz="1800" b="0">
                <a:solidFill>
                  <a:srgbClr val="2F3A44"/>
                </a:solidFill>
              </a:rPr>
              <a:t>Focus area: searchable listings, secure login, bookings, guest reviews, and a polished travel interface.</a:t>
            </a:r>
            <a:endParaRPr lang="en-US" sz="1800"/>
          </a:p>
        </p:txBody>
      </p:sp>
      <p:sp>
        <p:nvSpPr>
          <p:cNvPr id="8" name="Footer Text"/>
          <p:cNvSpPr txBox="1"/>
          <p:nvPr/>
        </p:nvSpPr>
        <p:spPr>
          <a:xfrm>
            <a:off x="9600000" y="6320000"/>
            <a:ext cx="18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None/>
            </a:pPr>
            <a:r>
              <a:rPr lang="en-US" sz="1100" b="1">
                <a:solidFill>
                  <a:srgbClr val="F7F3EC"/>
                </a:solidFill>
              </a:rPr>
              <a:t>Slide 1 of 13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1E2A39"/>
          </a:solidFill>
          <a:ln>
            <a:noFill/>
          </a:ln>
        </p:spPr>
      </p:sp>
      <p:sp>
        <p:nvSpPr>
          <p:cNvPr id="3" name="Accent Block"/>
          <p:cNvSpPr/>
          <p:nvPr/>
        </p:nvSpPr>
        <p:spPr>
          <a:xfrm>
            <a:off x="0" y="720000"/>
            <a:ext cx="1450000" cy="61400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Footer"/>
          <p:cNvSpPr/>
          <p:nvPr/>
        </p:nvSpPr>
        <p:spPr>
          <a:xfrm>
            <a:off x="0" y="6180000"/>
            <a:ext cx="12192000" cy="678000"/>
          </a:xfrm>
          <a:prstGeom prst="rect">
            <a:avLst/>
          </a:prstGeom>
          <a:solidFill>
            <a:srgbClr val="1E2A39"/>
          </a:solidFill>
          <a:ln>
            <a:noFill/>
          </a:ln>
        </p:spPr>
      </p:sp>
      <p:sp>
        <p:nvSpPr>
          <p:cNvPr id="5" name="Title"/>
          <p:cNvSpPr txBox="1"/>
          <p:nvPr/>
        </p:nvSpPr>
        <p:spPr>
          <a:xfrm>
            <a:off x="1850000" y="1020000"/>
            <a:ext cx="9300000" cy="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None/>
            </a:pPr>
            <a:r>
              <a:rPr lang="en-US" sz="2600" b="1">
                <a:solidFill>
                  <a:srgbClr val="1E2A39"/>
                </a:solidFill>
              </a:rPr>
              <a:t>Problem Statement</a:t>
            </a:r>
            <a:endParaRPr lang="en-US" sz="2600"/>
          </a:p>
        </p:txBody>
      </p:sp>
      <p:sp>
        <p:nvSpPr>
          <p:cNvPr id="6" name="Subtitle"/>
          <p:cNvSpPr txBox="1"/>
          <p:nvPr/>
        </p:nvSpPr>
        <p:spPr>
          <a:xfrm>
            <a:off x="1850000" y="1880000"/>
            <a:ext cx="90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None/>
            </a:pPr>
            <a:r>
              <a:rPr lang="en-US" sz="1280" b="1">
                <a:solidFill>
                  <a:srgbClr val="0E7490"/>
                </a:solidFill>
              </a:rPr>
              <a:t>Why this project was built</a:t>
            </a:r>
            <a:endParaRPr lang="en-US" sz="1280"/>
          </a:p>
        </p:txBody>
      </p:sp>
      <p:sp>
        <p:nvSpPr>
          <p:cNvPr id="7" name="Body"/>
          <p:cNvSpPr txBox="1"/>
          <p:nvPr/>
        </p:nvSpPr>
        <p:spPr>
          <a:xfrm>
            <a:off x="1850000" y="2480000"/>
            <a:ext cx="9300000" cy="30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Char char="•"/>
            </a:pPr>
            <a:r>
              <a:rPr lang="en-US" sz="1800" b="0">
                <a:solidFill>
                  <a:srgbClr val="2F3A44"/>
                </a:solidFill>
              </a:rPr>
              <a:t>Travel websites often overload users with cluttered hotel cards and weak comparison tools.</a:t>
            </a:r>
            <a:endParaRPr lang="en-US" sz="1800"/>
          </a:p>
          <a:p>
            <a:pPr>
              <a:buChar char="•"/>
            </a:pPr>
            <a:r>
              <a:rPr lang="en-US" sz="1800" b="0">
                <a:solidFill>
                  <a:srgbClr val="2F3A44"/>
                </a:solidFill>
              </a:rPr>
              <a:t>Users need one place to search by city, price, rating, and amenities before booking.</a:t>
            </a:r>
            <a:endParaRPr lang="en-US" sz="1800"/>
          </a:p>
          <a:p>
            <a:pPr>
              <a:buChar char="•"/>
            </a:pPr>
            <a:r>
              <a:rPr lang="en-US" sz="1800" b="0">
                <a:solidFill>
                  <a:srgbClr val="2F3A44"/>
                </a:solidFill>
              </a:rPr>
              <a:t>Hotel detail, booking, and review steps should feel connected instead of fragmented.</a:t>
            </a:r>
            <a:endParaRPr lang="en-US" sz="1800"/>
          </a:p>
        </p:txBody>
      </p:sp>
      <p:sp>
        <p:nvSpPr>
          <p:cNvPr id="8" name="Footer Text"/>
          <p:cNvSpPr txBox="1"/>
          <p:nvPr/>
        </p:nvSpPr>
        <p:spPr>
          <a:xfrm>
            <a:off x="9600000" y="6320000"/>
            <a:ext cx="18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None/>
            </a:pPr>
            <a:r>
              <a:rPr lang="en-US" sz="1100" b="1">
                <a:solidFill>
                  <a:srgbClr val="F7F3EC"/>
                </a:solidFill>
              </a:rPr>
              <a:t>Slide 2 of 13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1E2A39"/>
          </a:solidFill>
          <a:ln>
            <a:noFill/>
          </a:ln>
        </p:spPr>
      </p:sp>
      <p:sp>
        <p:nvSpPr>
          <p:cNvPr id="3" name="Accent Block"/>
          <p:cNvSpPr/>
          <p:nvPr/>
        </p:nvSpPr>
        <p:spPr>
          <a:xfrm>
            <a:off x="0" y="720000"/>
            <a:ext cx="1450000" cy="61400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Footer"/>
          <p:cNvSpPr/>
          <p:nvPr/>
        </p:nvSpPr>
        <p:spPr>
          <a:xfrm>
            <a:off x="0" y="6180000"/>
            <a:ext cx="12192000" cy="678000"/>
          </a:xfrm>
          <a:prstGeom prst="rect">
            <a:avLst/>
          </a:prstGeom>
          <a:solidFill>
            <a:srgbClr val="1E2A39"/>
          </a:solidFill>
          <a:ln>
            <a:noFill/>
          </a:ln>
        </p:spPr>
      </p:sp>
      <p:sp>
        <p:nvSpPr>
          <p:cNvPr id="5" name="Title"/>
          <p:cNvSpPr txBox="1"/>
          <p:nvPr/>
        </p:nvSpPr>
        <p:spPr>
          <a:xfrm>
            <a:off x="1850000" y="1020000"/>
            <a:ext cx="9300000" cy="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None/>
            </a:pPr>
            <a:r>
              <a:rPr lang="en-US" sz="2600" b="1">
                <a:solidFill>
                  <a:srgbClr val="1E2A39"/>
                </a:solidFill>
              </a:rPr>
              <a:t>Project Overview</a:t>
            </a:r>
            <a:endParaRPr lang="en-US" sz="2600"/>
          </a:p>
        </p:txBody>
      </p:sp>
      <p:sp>
        <p:nvSpPr>
          <p:cNvPr id="6" name="Subtitle"/>
          <p:cNvSpPr txBox="1"/>
          <p:nvPr/>
        </p:nvSpPr>
        <p:spPr>
          <a:xfrm>
            <a:off x="1850000" y="1880000"/>
            <a:ext cx="90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None/>
            </a:pPr>
            <a:r>
              <a:rPr lang="en-US" sz="1280" b="1">
                <a:solidFill>
                  <a:srgbClr val="0E7490"/>
                </a:solidFill>
              </a:rPr>
              <a:t>What StayAtlas delivers</a:t>
            </a:r>
            <a:endParaRPr lang="en-US" sz="1280"/>
          </a:p>
        </p:txBody>
      </p:sp>
      <p:sp>
        <p:nvSpPr>
          <p:cNvPr id="7" name="Body"/>
          <p:cNvSpPr txBox="1"/>
          <p:nvPr/>
        </p:nvSpPr>
        <p:spPr>
          <a:xfrm>
            <a:off x="1850000" y="2480000"/>
            <a:ext cx="9300000" cy="30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Char char="•"/>
            </a:pPr>
            <a:r>
              <a:rPr lang="en-US" sz="1800" b="0">
                <a:solidFill>
                  <a:srgbClr val="2F3A44"/>
                </a:solidFill>
              </a:rPr>
              <a:t>A complete stay discovery flow from hotel search to reservation dashboard.</a:t>
            </a:r>
            <a:endParaRPr lang="en-US" sz="1800"/>
          </a:p>
          <a:p>
            <a:pPr>
              <a:buChar char="•"/>
            </a:pPr>
            <a:r>
              <a:rPr lang="en-US" sz="1800" b="0">
                <a:solidFill>
                  <a:srgbClr val="2F3A44"/>
                </a:solidFill>
              </a:rPr>
              <a:t>Seeded with 24 hotels across 18 Indian destinations and 13 guest-focused amenities.</a:t>
            </a:r>
            <a:endParaRPr lang="en-US" sz="1800"/>
          </a:p>
          <a:p>
            <a:pPr>
              <a:buChar char="•"/>
            </a:pPr>
            <a:r>
              <a:rPr lang="en-US" sz="1800" b="0">
                <a:solidFill>
                  <a:srgbClr val="2F3A44"/>
                </a:solidFill>
              </a:rPr>
              <a:t>Supports hotel exploration, detail pages, live suggestions, bookings, and review updates.</a:t>
            </a:r>
            <a:endParaRPr lang="en-US" sz="1800"/>
          </a:p>
        </p:txBody>
      </p:sp>
      <p:sp>
        <p:nvSpPr>
          <p:cNvPr id="8" name="Footer Text"/>
          <p:cNvSpPr txBox="1"/>
          <p:nvPr/>
        </p:nvSpPr>
        <p:spPr>
          <a:xfrm>
            <a:off x="9600000" y="6320000"/>
            <a:ext cx="18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None/>
            </a:pPr>
            <a:r>
              <a:rPr lang="en-US" sz="1100" b="1">
                <a:solidFill>
                  <a:srgbClr val="F7F3EC"/>
                </a:solidFill>
              </a:rPr>
              <a:t>Slide 3 of 13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1E2A39"/>
          </a:solidFill>
          <a:ln>
            <a:noFill/>
          </a:ln>
        </p:spPr>
      </p:sp>
      <p:sp>
        <p:nvSpPr>
          <p:cNvPr id="3" name="Accent Block"/>
          <p:cNvSpPr/>
          <p:nvPr/>
        </p:nvSpPr>
        <p:spPr>
          <a:xfrm>
            <a:off x="0" y="720000"/>
            <a:ext cx="1450000" cy="61400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Footer"/>
          <p:cNvSpPr/>
          <p:nvPr/>
        </p:nvSpPr>
        <p:spPr>
          <a:xfrm>
            <a:off x="0" y="6180000"/>
            <a:ext cx="12192000" cy="678000"/>
          </a:xfrm>
          <a:prstGeom prst="rect">
            <a:avLst/>
          </a:prstGeom>
          <a:solidFill>
            <a:srgbClr val="1E2A39"/>
          </a:solidFill>
          <a:ln>
            <a:noFill/>
          </a:ln>
        </p:spPr>
      </p:sp>
      <p:sp>
        <p:nvSpPr>
          <p:cNvPr id="5" name="Title"/>
          <p:cNvSpPr txBox="1"/>
          <p:nvPr/>
        </p:nvSpPr>
        <p:spPr>
          <a:xfrm>
            <a:off x="1850000" y="1020000"/>
            <a:ext cx="9300000" cy="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None/>
            </a:pPr>
            <a:r>
              <a:rPr lang="en-US" sz="2600" b="1">
                <a:solidFill>
                  <a:srgbClr val="1E2A39"/>
                </a:solidFill>
              </a:rPr>
              <a:t>Objectives</a:t>
            </a:r>
            <a:endParaRPr lang="en-US" sz="2600"/>
          </a:p>
        </p:txBody>
      </p:sp>
      <p:sp>
        <p:nvSpPr>
          <p:cNvPr id="6" name="Subtitle"/>
          <p:cNvSpPr txBox="1"/>
          <p:nvPr/>
        </p:nvSpPr>
        <p:spPr>
          <a:xfrm>
            <a:off x="1850000" y="1880000"/>
            <a:ext cx="90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None/>
            </a:pPr>
            <a:r>
              <a:rPr lang="en-US" sz="1280" b="1">
                <a:solidFill>
                  <a:srgbClr val="0E7490"/>
                </a:solidFill>
              </a:rPr>
              <a:t>Core goals of the system</a:t>
            </a:r>
            <a:endParaRPr lang="en-US" sz="1280"/>
          </a:p>
        </p:txBody>
      </p:sp>
      <p:sp>
        <p:nvSpPr>
          <p:cNvPr id="7" name="Body"/>
          <p:cNvSpPr txBox="1"/>
          <p:nvPr/>
        </p:nvSpPr>
        <p:spPr>
          <a:xfrm>
            <a:off x="1850000" y="2480000"/>
            <a:ext cx="9300000" cy="30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Char char="•"/>
            </a:pPr>
            <a:r>
              <a:rPr lang="en-US" sz="1800" b="0">
                <a:solidFill>
                  <a:srgbClr val="2F3A44"/>
                </a:solidFill>
              </a:rPr>
              <a:t>Build a practical full-stack project using modular Flask architecture.</a:t>
            </a:r>
            <a:endParaRPr lang="en-US" sz="1800"/>
          </a:p>
          <a:p>
            <a:pPr>
              <a:buChar char="•"/>
            </a:pPr>
            <a:r>
              <a:rPr lang="en-US" sz="1800" b="0">
                <a:solidFill>
                  <a:srgbClr val="2F3A44"/>
                </a:solidFill>
              </a:rPr>
              <a:t>Improve hotel filtering, decision making, and booking convenience for users.</a:t>
            </a:r>
            <a:endParaRPr lang="en-US" sz="1800"/>
          </a:p>
          <a:p>
            <a:pPr>
              <a:buChar char="•"/>
            </a:pPr>
            <a:r>
              <a:rPr lang="en-US" sz="1800" b="0">
                <a:solidFill>
                  <a:srgbClr val="2F3A44"/>
                </a:solidFill>
              </a:rPr>
              <a:t>Store hotel, user, booking, and review data in a structured relational database.</a:t>
            </a:r>
            <a:endParaRPr lang="en-US" sz="1800"/>
          </a:p>
        </p:txBody>
      </p:sp>
      <p:sp>
        <p:nvSpPr>
          <p:cNvPr id="8" name="Footer Text"/>
          <p:cNvSpPr txBox="1"/>
          <p:nvPr/>
        </p:nvSpPr>
        <p:spPr>
          <a:xfrm>
            <a:off x="9600000" y="6320000"/>
            <a:ext cx="18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None/>
            </a:pPr>
            <a:r>
              <a:rPr lang="en-US" sz="1100" b="1">
                <a:solidFill>
                  <a:srgbClr val="F7F3EC"/>
                </a:solidFill>
              </a:rPr>
              <a:t>Slide 4 of 13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1E2A39"/>
          </a:solidFill>
          <a:ln>
            <a:noFill/>
          </a:ln>
        </p:spPr>
      </p:sp>
      <p:sp>
        <p:nvSpPr>
          <p:cNvPr id="3" name="Accent Block"/>
          <p:cNvSpPr/>
          <p:nvPr/>
        </p:nvSpPr>
        <p:spPr>
          <a:xfrm>
            <a:off x="0" y="720000"/>
            <a:ext cx="1450000" cy="61400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Footer"/>
          <p:cNvSpPr/>
          <p:nvPr/>
        </p:nvSpPr>
        <p:spPr>
          <a:xfrm>
            <a:off x="0" y="6180000"/>
            <a:ext cx="12192000" cy="678000"/>
          </a:xfrm>
          <a:prstGeom prst="rect">
            <a:avLst/>
          </a:prstGeom>
          <a:solidFill>
            <a:srgbClr val="1E2A39"/>
          </a:solidFill>
          <a:ln>
            <a:noFill/>
          </a:ln>
        </p:spPr>
      </p:sp>
      <p:sp>
        <p:nvSpPr>
          <p:cNvPr id="5" name="Title"/>
          <p:cNvSpPr txBox="1"/>
          <p:nvPr/>
        </p:nvSpPr>
        <p:spPr>
          <a:xfrm>
            <a:off x="1850000" y="1020000"/>
            <a:ext cx="9300000" cy="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None/>
            </a:pPr>
            <a:r>
              <a:rPr lang="en-US" sz="2600" b="1">
                <a:solidFill>
                  <a:srgbClr val="1E2A39"/>
                </a:solidFill>
              </a:rPr>
              <a:t>Technology Stack</a:t>
            </a:r>
            <a:endParaRPr lang="en-US" sz="2600"/>
          </a:p>
        </p:txBody>
      </p:sp>
      <p:sp>
        <p:nvSpPr>
          <p:cNvPr id="6" name="Subtitle"/>
          <p:cNvSpPr txBox="1"/>
          <p:nvPr/>
        </p:nvSpPr>
        <p:spPr>
          <a:xfrm>
            <a:off x="1850000" y="1880000"/>
            <a:ext cx="90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None/>
            </a:pPr>
            <a:r>
              <a:rPr lang="en-US" sz="1280" b="1">
                <a:solidFill>
                  <a:srgbClr val="0E7490"/>
                </a:solidFill>
              </a:rPr>
              <a:t>Tools used in development</a:t>
            </a:r>
            <a:endParaRPr lang="en-US" sz="1280"/>
          </a:p>
        </p:txBody>
      </p:sp>
      <p:sp>
        <p:nvSpPr>
          <p:cNvPr id="7" name="Body"/>
          <p:cNvSpPr txBox="1"/>
          <p:nvPr/>
        </p:nvSpPr>
        <p:spPr>
          <a:xfrm>
            <a:off x="1850000" y="2480000"/>
            <a:ext cx="9300000" cy="30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Char char="•"/>
            </a:pPr>
            <a:r>
              <a:rPr lang="en-US" sz="1800" b="0">
                <a:solidFill>
                  <a:srgbClr val="2F3A44"/>
                </a:solidFill>
              </a:rPr>
              <a:t>Backend: Python, Flask, Flask-SQLAlchemy, blueprint-based structure.</a:t>
            </a:r>
            <a:endParaRPr lang="en-US" sz="1800"/>
          </a:p>
          <a:p>
            <a:pPr>
              <a:buChar char="•"/>
            </a:pPr>
            <a:r>
              <a:rPr lang="en-US" sz="1800" b="0">
                <a:solidFill>
                  <a:srgbClr val="2F3A44"/>
                </a:solidFill>
              </a:rPr>
              <a:t>Database: MySQL with PyMySQL and environment-based configuration.</a:t>
            </a:r>
            <a:endParaRPr lang="en-US" sz="1800"/>
          </a:p>
          <a:p>
            <a:pPr>
              <a:buChar char="•"/>
            </a:pPr>
            <a:r>
              <a:rPr lang="en-US" sz="1800" b="0">
                <a:solidFill>
                  <a:srgbClr val="2F3A44"/>
                </a:solidFill>
              </a:rPr>
              <a:t>Frontend: HTML templates, custom CSS, JavaScript for suggestions, totals, and reveal effects.</a:t>
            </a:r>
            <a:endParaRPr lang="en-US" sz="1800"/>
          </a:p>
        </p:txBody>
      </p:sp>
      <p:sp>
        <p:nvSpPr>
          <p:cNvPr id="8" name="Footer Text"/>
          <p:cNvSpPr txBox="1"/>
          <p:nvPr/>
        </p:nvSpPr>
        <p:spPr>
          <a:xfrm>
            <a:off x="9600000" y="6320000"/>
            <a:ext cx="18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None/>
            </a:pPr>
            <a:r>
              <a:rPr lang="en-US" sz="1100" b="1">
                <a:solidFill>
                  <a:srgbClr val="F7F3EC"/>
                </a:solidFill>
              </a:rPr>
              <a:t>Slide 5 of 13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1E2A39"/>
          </a:solidFill>
          <a:ln>
            <a:noFill/>
          </a:ln>
        </p:spPr>
      </p:sp>
      <p:sp>
        <p:nvSpPr>
          <p:cNvPr id="3" name="Accent Block"/>
          <p:cNvSpPr/>
          <p:nvPr/>
        </p:nvSpPr>
        <p:spPr>
          <a:xfrm>
            <a:off x="0" y="720000"/>
            <a:ext cx="1450000" cy="61400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Footer"/>
          <p:cNvSpPr/>
          <p:nvPr/>
        </p:nvSpPr>
        <p:spPr>
          <a:xfrm>
            <a:off x="0" y="6180000"/>
            <a:ext cx="12192000" cy="678000"/>
          </a:xfrm>
          <a:prstGeom prst="rect">
            <a:avLst/>
          </a:prstGeom>
          <a:solidFill>
            <a:srgbClr val="1E2A39"/>
          </a:solidFill>
          <a:ln>
            <a:noFill/>
          </a:ln>
        </p:spPr>
      </p:sp>
      <p:sp>
        <p:nvSpPr>
          <p:cNvPr id="5" name="Title"/>
          <p:cNvSpPr txBox="1"/>
          <p:nvPr/>
        </p:nvSpPr>
        <p:spPr>
          <a:xfrm>
            <a:off x="1850000" y="1020000"/>
            <a:ext cx="9300000" cy="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None/>
            </a:pPr>
            <a:r>
              <a:rPr lang="en-US" sz="2600" b="1">
                <a:solidFill>
                  <a:srgbClr val="1E2A39"/>
                </a:solidFill>
              </a:rPr>
              <a:t>System Architecture</a:t>
            </a:r>
            <a:endParaRPr lang="en-US" sz="2600"/>
          </a:p>
        </p:txBody>
      </p:sp>
      <p:sp>
        <p:nvSpPr>
          <p:cNvPr id="6" name="Subtitle"/>
          <p:cNvSpPr txBox="1"/>
          <p:nvPr/>
        </p:nvSpPr>
        <p:spPr>
          <a:xfrm>
            <a:off x="1850000" y="1880000"/>
            <a:ext cx="90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None/>
            </a:pPr>
            <a:r>
              <a:rPr lang="en-US" sz="1280" b="1">
                <a:solidFill>
                  <a:srgbClr val="0E7490"/>
                </a:solidFill>
              </a:rPr>
              <a:t>How the application is organized</a:t>
            </a:r>
            <a:endParaRPr lang="en-US" sz="1280"/>
          </a:p>
        </p:txBody>
      </p:sp>
      <p:sp>
        <p:nvSpPr>
          <p:cNvPr id="7" name="Body"/>
          <p:cNvSpPr txBox="1"/>
          <p:nvPr/>
        </p:nvSpPr>
        <p:spPr>
          <a:xfrm>
            <a:off x="1850000" y="2480000"/>
            <a:ext cx="9300000" cy="30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Char char="•"/>
            </a:pPr>
            <a:r>
              <a:rPr lang="en-US" sz="1800" b="0">
                <a:solidFill>
                  <a:srgbClr val="2F3A44"/>
                </a:solidFill>
              </a:rPr>
              <a:t>app/auth handles signup, login, and logout routes.</a:t>
            </a:r>
            <a:endParaRPr lang="en-US" sz="1800"/>
          </a:p>
          <a:p>
            <a:pPr>
              <a:buChar char="•"/>
            </a:pPr>
            <a:r>
              <a:rPr lang="en-US" sz="1800" b="0">
                <a:solidFill>
                  <a:srgbClr val="2F3A44"/>
                </a:solidFill>
              </a:rPr>
              <a:t>app/main manages hotel listing, hotel detail, booking, reviews, and booking dashboard.</a:t>
            </a:r>
            <a:endParaRPr lang="en-US" sz="1800"/>
          </a:p>
          <a:p>
            <a:pPr>
              <a:buChar char="•"/>
            </a:pPr>
            <a:r>
              <a:rPr lang="en-US" sz="1800" b="0">
                <a:solidFill>
                  <a:srgbClr val="2F3A44"/>
                </a:solidFill>
              </a:rPr>
              <a:t>app/models defines relational entities such as User, Hotel, Booking, Review, Amenity, and HotelImage.</a:t>
            </a:r>
            <a:endParaRPr lang="en-US" sz="1800"/>
          </a:p>
        </p:txBody>
      </p:sp>
      <p:sp>
        <p:nvSpPr>
          <p:cNvPr id="8" name="Footer Text"/>
          <p:cNvSpPr txBox="1"/>
          <p:nvPr/>
        </p:nvSpPr>
        <p:spPr>
          <a:xfrm>
            <a:off x="9600000" y="6320000"/>
            <a:ext cx="18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None/>
            </a:pPr>
            <a:r>
              <a:rPr lang="en-US" sz="1100" b="1">
                <a:solidFill>
                  <a:srgbClr val="F7F3EC"/>
                </a:solidFill>
              </a:rPr>
              <a:t>Slide 6 of 13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1E2A39"/>
          </a:solidFill>
          <a:ln>
            <a:noFill/>
          </a:ln>
        </p:spPr>
      </p:sp>
      <p:sp>
        <p:nvSpPr>
          <p:cNvPr id="3" name="Accent Block"/>
          <p:cNvSpPr/>
          <p:nvPr/>
        </p:nvSpPr>
        <p:spPr>
          <a:xfrm>
            <a:off x="0" y="720000"/>
            <a:ext cx="1450000" cy="61400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Footer"/>
          <p:cNvSpPr/>
          <p:nvPr/>
        </p:nvSpPr>
        <p:spPr>
          <a:xfrm>
            <a:off x="0" y="6180000"/>
            <a:ext cx="12192000" cy="678000"/>
          </a:xfrm>
          <a:prstGeom prst="rect">
            <a:avLst/>
          </a:prstGeom>
          <a:solidFill>
            <a:srgbClr val="1E2A39"/>
          </a:solidFill>
          <a:ln>
            <a:noFill/>
          </a:ln>
        </p:spPr>
      </p:sp>
      <p:sp>
        <p:nvSpPr>
          <p:cNvPr id="5" name="Title"/>
          <p:cNvSpPr txBox="1"/>
          <p:nvPr/>
        </p:nvSpPr>
        <p:spPr>
          <a:xfrm>
            <a:off x="1850000" y="1020000"/>
            <a:ext cx="9300000" cy="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None/>
            </a:pPr>
            <a:r>
              <a:rPr lang="en-US" sz="2600" b="1">
                <a:solidFill>
                  <a:srgbClr val="1E2A39"/>
                </a:solidFill>
              </a:rPr>
              <a:t>Hotel Discovery Module</a:t>
            </a:r>
            <a:endParaRPr lang="en-US" sz="2600"/>
          </a:p>
        </p:txBody>
      </p:sp>
      <p:sp>
        <p:nvSpPr>
          <p:cNvPr id="6" name="Subtitle"/>
          <p:cNvSpPr txBox="1"/>
          <p:nvPr/>
        </p:nvSpPr>
        <p:spPr>
          <a:xfrm>
            <a:off x="1850000" y="1880000"/>
            <a:ext cx="90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None/>
            </a:pPr>
            <a:r>
              <a:rPr lang="en-US" sz="1280" b="1">
                <a:solidFill>
                  <a:srgbClr val="0E7490"/>
                </a:solidFill>
              </a:rPr>
              <a:t>Browsing and shortlist features</a:t>
            </a:r>
            <a:endParaRPr lang="en-US" sz="1280"/>
          </a:p>
        </p:txBody>
      </p:sp>
      <p:sp>
        <p:nvSpPr>
          <p:cNvPr id="7" name="Body"/>
          <p:cNvSpPr txBox="1"/>
          <p:nvPr/>
        </p:nvSpPr>
        <p:spPr>
          <a:xfrm>
            <a:off x="1850000" y="2480000"/>
            <a:ext cx="9300000" cy="30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Char char="•"/>
            </a:pPr>
            <a:r>
              <a:rPr lang="en-US" sz="1800" b="0">
                <a:solidFill>
                  <a:srgbClr val="2F3A44"/>
                </a:solidFill>
              </a:rPr>
              <a:t>Search supports hotel name or city with query-based filtering.</a:t>
            </a:r>
            <a:endParaRPr lang="en-US" sz="1800"/>
          </a:p>
          <a:p>
            <a:pPr>
              <a:buChar char="•"/>
            </a:pPr>
            <a:r>
              <a:rPr lang="en-US" sz="1800" b="0">
                <a:solidFill>
                  <a:srgbClr val="2F3A44"/>
                </a:solidFill>
              </a:rPr>
              <a:t>Filters include city, minimum and maximum price, rating, and selected amenities.</a:t>
            </a:r>
            <a:endParaRPr lang="en-US" sz="1800"/>
          </a:p>
          <a:p>
            <a:pPr>
              <a:buChar char="•"/>
            </a:pPr>
            <a:r>
              <a:rPr lang="en-US" sz="1800" b="0">
                <a:solidFill>
                  <a:srgbClr val="2F3A44"/>
                </a:solidFill>
              </a:rPr>
              <a:t>Hotels are presented with images, location, price per night, and average rating.</a:t>
            </a:r>
            <a:endParaRPr lang="en-US" sz="1800"/>
          </a:p>
        </p:txBody>
      </p:sp>
      <p:sp>
        <p:nvSpPr>
          <p:cNvPr id="8" name="Footer Text"/>
          <p:cNvSpPr txBox="1"/>
          <p:nvPr/>
        </p:nvSpPr>
        <p:spPr>
          <a:xfrm>
            <a:off x="9600000" y="6320000"/>
            <a:ext cx="18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None/>
            </a:pPr>
            <a:r>
              <a:rPr lang="en-US" sz="1100" b="1">
                <a:solidFill>
                  <a:srgbClr val="F7F3EC"/>
                </a:solidFill>
              </a:rPr>
              <a:t>Slide 7 of 13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1E2A39"/>
          </a:solidFill>
          <a:ln>
            <a:noFill/>
          </a:ln>
        </p:spPr>
      </p:sp>
      <p:sp>
        <p:nvSpPr>
          <p:cNvPr id="3" name="Accent Block"/>
          <p:cNvSpPr/>
          <p:nvPr/>
        </p:nvSpPr>
        <p:spPr>
          <a:xfrm>
            <a:off x="0" y="720000"/>
            <a:ext cx="1450000" cy="61400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Footer"/>
          <p:cNvSpPr/>
          <p:nvPr/>
        </p:nvSpPr>
        <p:spPr>
          <a:xfrm>
            <a:off x="0" y="6180000"/>
            <a:ext cx="12192000" cy="678000"/>
          </a:xfrm>
          <a:prstGeom prst="rect">
            <a:avLst/>
          </a:prstGeom>
          <a:solidFill>
            <a:srgbClr val="1E2A39"/>
          </a:solidFill>
          <a:ln>
            <a:noFill/>
          </a:ln>
        </p:spPr>
      </p:sp>
      <p:sp>
        <p:nvSpPr>
          <p:cNvPr id="5" name="Title"/>
          <p:cNvSpPr txBox="1"/>
          <p:nvPr/>
        </p:nvSpPr>
        <p:spPr>
          <a:xfrm>
            <a:off x="1850000" y="1020000"/>
            <a:ext cx="9300000" cy="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None/>
            </a:pPr>
            <a:r>
              <a:rPr lang="en-US" sz="2600" b="1">
                <a:solidFill>
                  <a:srgbClr val="1E2A39"/>
                </a:solidFill>
              </a:rPr>
              <a:t>Hotel Detail and Booking</a:t>
            </a:r>
            <a:endParaRPr lang="en-US" sz="2600"/>
          </a:p>
        </p:txBody>
      </p:sp>
      <p:sp>
        <p:nvSpPr>
          <p:cNvPr id="6" name="Subtitle"/>
          <p:cNvSpPr txBox="1"/>
          <p:nvPr/>
        </p:nvSpPr>
        <p:spPr>
          <a:xfrm>
            <a:off x="1850000" y="1880000"/>
            <a:ext cx="90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None/>
            </a:pPr>
            <a:r>
              <a:rPr lang="en-US" sz="1280" b="1">
                <a:solidFill>
                  <a:srgbClr val="0E7490"/>
                </a:solidFill>
              </a:rPr>
              <a:t>From viewing to reservation</a:t>
            </a:r>
            <a:endParaRPr lang="en-US" sz="1280"/>
          </a:p>
        </p:txBody>
      </p:sp>
      <p:sp>
        <p:nvSpPr>
          <p:cNvPr id="7" name="Body"/>
          <p:cNvSpPr txBox="1"/>
          <p:nvPr/>
        </p:nvSpPr>
        <p:spPr>
          <a:xfrm>
            <a:off x="1850000" y="2480000"/>
            <a:ext cx="9300000" cy="30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Char char="•"/>
            </a:pPr>
            <a:r>
              <a:rPr lang="en-US" sz="1800" b="0">
                <a:solidFill>
                  <a:srgbClr val="2F3A44"/>
                </a:solidFill>
              </a:rPr>
              <a:t>Each hotel page includes gallery images, description, amenities, reviews, and map view.</a:t>
            </a:r>
            <a:endParaRPr lang="en-US" sz="1800"/>
          </a:p>
          <a:p>
            <a:pPr>
              <a:buChar char="•"/>
            </a:pPr>
            <a:r>
              <a:rPr lang="en-US" sz="1800" b="0">
                <a:solidFill>
                  <a:srgbClr val="2F3A44"/>
                </a:solidFill>
              </a:rPr>
              <a:t>Booking form accepts check-in and check-out dates with client-side price calculation.</a:t>
            </a:r>
            <a:endParaRPr lang="en-US" sz="1800"/>
          </a:p>
          <a:p>
            <a:pPr>
              <a:buChar char="•"/>
            </a:pPr>
            <a:r>
              <a:rPr lang="en-US" sz="1800" b="0">
                <a:solidFill>
                  <a:srgbClr val="2F3A44"/>
                </a:solidFill>
              </a:rPr>
              <a:t>Server-side validation blocks invalid dates and stores confirmed bookings with total price.</a:t>
            </a:r>
            <a:endParaRPr lang="en-US" sz="1800"/>
          </a:p>
        </p:txBody>
      </p:sp>
      <p:sp>
        <p:nvSpPr>
          <p:cNvPr id="8" name="Footer Text"/>
          <p:cNvSpPr txBox="1"/>
          <p:nvPr/>
        </p:nvSpPr>
        <p:spPr>
          <a:xfrm>
            <a:off x="9600000" y="6320000"/>
            <a:ext cx="18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None/>
            </a:pPr>
            <a:r>
              <a:rPr lang="en-US" sz="1100" b="1">
                <a:solidFill>
                  <a:srgbClr val="F7F3EC"/>
                </a:solidFill>
              </a:rPr>
              <a:t>Slide 8 of 13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1E2A39"/>
          </a:solidFill>
          <a:ln>
            <a:noFill/>
          </a:ln>
        </p:spPr>
      </p:sp>
      <p:sp>
        <p:nvSpPr>
          <p:cNvPr id="3" name="Accent Block"/>
          <p:cNvSpPr/>
          <p:nvPr/>
        </p:nvSpPr>
        <p:spPr>
          <a:xfrm>
            <a:off x="0" y="720000"/>
            <a:ext cx="1450000" cy="61400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Footer"/>
          <p:cNvSpPr/>
          <p:nvPr/>
        </p:nvSpPr>
        <p:spPr>
          <a:xfrm>
            <a:off x="0" y="6180000"/>
            <a:ext cx="12192000" cy="678000"/>
          </a:xfrm>
          <a:prstGeom prst="rect">
            <a:avLst/>
          </a:prstGeom>
          <a:solidFill>
            <a:srgbClr val="1E2A39"/>
          </a:solidFill>
          <a:ln>
            <a:noFill/>
          </a:ln>
        </p:spPr>
      </p:sp>
      <p:sp>
        <p:nvSpPr>
          <p:cNvPr id="5" name="Title"/>
          <p:cNvSpPr txBox="1"/>
          <p:nvPr/>
        </p:nvSpPr>
        <p:spPr>
          <a:xfrm>
            <a:off x="1850000" y="1020000"/>
            <a:ext cx="9300000" cy="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None/>
            </a:pPr>
            <a:r>
              <a:rPr lang="en-US" sz="2600" b="1">
                <a:solidFill>
                  <a:srgbClr val="1E2A39"/>
                </a:solidFill>
              </a:rPr>
              <a:t>Authentication and Reviews</a:t>
            </a:r>
            <a:endParaRPr lang="en-US" sz="2600"/>
          </a:p>
        </p:txBody>
      </p:sp>
      <p:sp>
        <p:nvSpPr>
          <p:cNvPr id="6" name="Subtitle"/>
          <p:cNvSpPr txBox="1"/>
          <p:nvPr/>
        </p:nvSpPr>
        <p:spPr>
          <a:xfrm>
            <a:off x="1850000" y="1880000"/>
            <a:ext cx="90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None/>
            </a:pPr>
            <a:r>
              <a:rPr lang="en-US" sz="1280" b="1">
                <a:solidFill>
                  <a:srgbClr val="0E7490"/>
                </a:solidFill>
              </a:rPr>
              <a:t>User-specific interactions</a:t>
            </a:r>
            <a:endParaRPr lang="en-US" sz="1280"/>
          </a:p>
        </p:txBody>
      </p:sp>
      <p:sp>
        <p:nvSpPr>
          <p:cNvPr id="7" name="Body"/>
          <p:cNvSpPr txBox="1"/>
          <p:nvPr/>
        </p:nvSpPr>
        <p:spPr>
          <a:xfrm>
            <a:off x="1850000" y="2480000"/>
            <a:ext cx="9300000" cy="30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Char char="•"/>
            </a:pPr>
            <a:r>
              <a:rPr lang="en-US" sz="1800" b="0">
                <a:solidFill>
                  <a:srgbClr val="2F3A44"/>
                </a:solidFill>
              </a:rPr>
              <a:t>Session-based login keeps protected actions available only to authenticated users.</a:t>
            </a:r>
            <a:endParaRPr lang="en-US" sz="1800"/>
          </a:p>
          <a:p>
            <a:pPr>
              <a:buChar char="•"/>
            </a:pPr>
            <a:r>
              <a:rPr lang="en-US" sz="1800" b="0">
                <a:solidFill>
                  <a:srgbClr val="2F3A44"/>
                </a:solidFill>
              </a:rPr>
              <a:t>Users can create one review per hotel and update it later instead of duplicating entries.</a:t>
            </a:r>
            <a:endParaRPr lang="en-US" sz="1800"/>
          </a:p>
          <a:p>
            <a:pPr>
              <a:buChar char="•"/>
            </a:pPr>
            <a:r>
              <a:rPr lang="en-US" sz="1800" b="0">
                <a:solidFill>
                  <a:srgbClr val="2F3A44"/>
                </a:solidFill>
              </a:rPr>
              <a:t>A personal dashboard shows all reservations with travel dates, hotel details, and booking status.</a:t>
            </a:r>
            <a:endParaRPr lang="en-US" sz="1800"/>
          </a:p>
        </p:txBody>
      </p:sp>
      <p:sp>
        <p:nvSpPr>
          <p:cNvPr id="8" name="Footer Text"/>
          <p:cNvSpPr txBox="1"/>
          <p:nvPr/>
        </p:nvSpPr>
        <p:spPr>
          <a:xfrm>
            <a:off x="9600000" y="6320000"/>
            <a:ext cx="18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None/>
            </a:pPr>
            <a:r>
              <a:rPr lang="en-US" sz="1100" b="1">
                <a:solidFill>
                  <a:srgbClr val="F7F3EC"/>
                </a:solidFill>
              </a:rPr>
              <a:t>Slide 9 of 13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1E2A39"/>
          </a:solidFill>
          <a:ln>
            <a:noFill/>
          </a:ln>
        </p:spPr>
      </p:sp>
      <p:sp>
        <p:nvSpPr>
          <p:cNvPr id="3" name="Accent Block"/>
          <p:cNvSpPr/>
          <p:nvPr/>
        </p:nvSpPr>
        <p:spPr>
          <a:xfrm>
            <a:off x="0" y="720000"/>
            <a:ext cx="1450000" cy="61400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Footer"/>
          <p:cNvSpPr/>
          <p:nvPr/>
        </p:nvSpPr>
        <p:spPr>
          <a:xfrm>
            <a:off x="0" y="6180000"/>
            <a:ext cx="12192000" cy="678000"/>
          </a:xfrm>
          <a:prstGeom prst="rect">
            <a:avLst/>
          </a:prstGeom>
          <a:solidFill>
            <a:srgbClr val="1E2A39"/>
          </a:solidFill>
          <a:ln>
            <a:noFill/>
          </a:ln>
        </p:spPr>
      </p:sp>
      <p:sp>
        <p:nvSpPr>
          <p:cNvPr id="5" name="Title"/>
          <p:cNvSpPr txBox="1"/>
          <p:nvPr/>
        </p:nvSpPr>
        <p:spPr>
          <a:xfrm>
            <a:off x="1850000" y="1020000"/>
            <a:ext cx="9300000" cy="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None/>
            </a:pPr>
            <a:r>
              <a:rPr lang="en-US" sz="2600" b="1">
                <a:solidFill>
                  <a:srgbClr val="1E2A39"/>
                </a:solidFill>
              </a:rPr>
              <a:t>Database Design</a:t>
            </a:r>
            <a:endParaRPr lang="en-US" sz="2600"/>
          </a:p>
        </p:txBody>
      </p:sp>
      <p:sp>
        <p:nvSpPr>
          <p:cNvPr id="6" name="Subtitle"/>
          <p:cNvSpPr txBox="1"/>
          <p:nvPr/>
        </p:nvSpPr>
        <p:spPr>
          <a:xfrm>
            <a:off x="1850000" y="1880000"/>
            <a:ext cx="90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None/>
            </a:pPr>
            <a:r>
              <a:rPr lang="en-US" sz="1280" b="1">
                <a:solidFill>
                  <a:srgbClr val="0E7490"/>
                </a:solidFill>
              </a:rPr>
              <a:t>Main entities in the schema</a:t>
            </a:r>
            <a:endParaRPr lang="en-US" sz="1280"/>
          </a:p>
        </p:txBody>
      </p:sp>
      <p:sp>
        <p:nvSpPr>
          <p:cNvPr id="7" name="Body"/>
          <p:cNvSpPr txBox="1"/>
          <p:nvPr/>
        </p:nvSpPr>
        <p:spPr>
          <a:xfrm>
            <a:off x="1850000" y="2480000"/>
            <a:ext cx="9300000" cy="30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Char char="•"/>
            </a:pPr>
            <a:r>
              <a:rPr lang="en-US" sz="1800" b="0">
                <a:solidFill>
                  <a:srgbClr val="2F3A44"/>
                </a:solidFill>
              </a:rPr>
              <a:t>User stores account information and password hash.</a:t>
            </a:r>
            <a:endParaRPr lang="en-US" sz="1800"/>
          </a:p>
          <a:p>
            <a:pPr>
              <a:buChar char="•"/>
            </a:pPr>
            <a:r>
              <a:rPr lang="en-US" sz="1800" b="0">
                <a:solidFill>
                  <a:srgbClr val="2F3A44"/>
                </a:solidFill>
              </a:rPr>
              <a:t>Hotel connects to amenities, gallery images, bookings, and reviews through SQLAlchemy relationships.</a:t>
            </a:r>
            <a:endParaRPr lang="en-US" sz="1800"/>
          </a:p>
          <a:p>
            <a:pPr>
              <a:buChar char="•"/>
            </a:pPr>
            <a:r>
              <a:rPr lang="en-US" sz="1800" b="0">
                <a:solidFill>
                  <a:srgbClr val="2F3A44"/>
                </a:solidFill>
              </a:rPr>
              <a:t>Booking tracks stay dates and total price, while Review stores rating, comment, and timestamps.</a:t>
            </a:r>
            <a:endParaRPr lang="en-US" sz="1800"/>
          </a:p>
        </p:txBody>
      </p:sp>
      <p:sp>
        <p:nvSpPr>
          <p:cNvPr id="8" name="Footer Text"/>
          <p:cNvSpPr txBox="1"/>
          <p:nvPr/>
        </p:nvSpPr>
        <p:spPr>
          <a:xfrm>
            <a:off x="9600000" y="6320000"/>
            <a:ext cx="18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None/>
            </a:pPr>
            <a:r>
              <a:rPr lang="en-US" sz="1100" b="1">
                <a:solidFill>
                  <a:srgbClr val="F7F3EC"/>
                </a:solidFill>
              </a:rPr>
              <a:t>Slide 10 of 13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1E2A39"/>
          </a:solidFill>
          <a:ln>
            <a:noFill/>
          </a:ln>
        </p:spPr>
      </p:sp>
      <p:sp>
        <p:nvSpPr>
          <p:cNvPr id="3" name="Accent Block"/>
          <p:cNvSpPr/>
          <p:nvPr/>
        </p:nvSpPr>
        <p:spPr>
          <a:xfrm>
            <a:off x="0" y="720000"/>
            <a:ext cx="1450000" cy="61400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Footer"/>
          <p:cNvSpPr/>
          <p:nvPr/>
        </p:nvSpPr>
        <p:spPr>
          <a:xfrm>
            <a:off x="0" y="6180000"/>
            <a:ext cx="12192000" cy="678000"/>
          </a:xfrm>
          <a:prstGeom prst="rect">
            <a:avLst/>
          </a:prstGeom>
          <a:solidFill>
            <a:srgbClr val="1E2A39"/>
          </a:solidFill>
          <a:ln>
            <a:noFill/>
          </a:ln>
        </p:spPr>
      </p:sp>
      <p:sp>
        <p:nvSpPr>
          <p:cNvPr id="5" name="Title"/>
          <p:cNvSpPr txBox="1"/>
          <p:nvPr/>
        </p:nvSpPr>
        <p:spPr>
          <a:xfrm>
            <a:off x="1850000" y="1020000"/>
            <a:ext cx="9300000" cy="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None/>
            </a:pPr>
            <a:r>
              <a:rPr lang="en-US" sz="2600" b="1">
                <a:solidFill>
                  <a:srgbClr val="1E2A39"/>
                </a:solidFill>
              </a:rPr>
              <a:t>Frontend Experience</a:t>
            </a:r>
            <a:endParaRPr lang="en-US" sz="2600"/>
          </a:p>
        </p:txBody>
      </p:sp>
      <p:sp>
        <p:nvSpPr>
          <p:cNvPr id="6" name="Subtitle"/>
          <p:cNvSpPr txBox="1"/>
          <p:nvPr/>
        </p:nvSpPr>
        <p:spPr>
          <a:xfrm>
            <a:off x="1850000" y="1880000"/>
            <a:ext cx="90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None/>
            </a:pPr>
            <a:r>
              <a:rPr lang="en-US" sz="1280" b="1">
                <a:solidFill>
                  <a:srgbClr val="0E7490"/>
                </a:solidFill>
              </a:rPr>
              <a:t>Usability improvements in the UI</a:t>
            </a:r>
            <a:endParaRPr lang="en-US" sz="1280"/>
          </a:p>
        </p:txBody>
      </p:sp>
      <p:sp>
        <p:nvSpPr>
          <p:cNvPr id="7" name="Body"/>
          <p:cNvSpPr txBox="1"/>
          <p:nvPr/>
        </p:nvSpPr>
        <p:spPr>
          <a:xfrm>
            <a:off x="1850000" y="2480000"/>
            <a:ext cx="9300000" cy="30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Char char="•"/>
            </a:pPr>
            <a:r>
              <a:rPr lang="en-US" sz="1800" b="0">
                <a:solidFill>
                  <a:srgbClr val="2F3A44"/>
                </a:solidFill>
              </a:rPr>
              <a:t>Hero section and richer hotel cards make browsing more visual and easier to scan.</a:t>
            </a:r>
            <a:endParaRPr lang="en-US" sz="1800"/>
          </a:p>
          <a:p>
            <a:pPr>
              <a:buChar char="•"/>
            </a:pPr>
            <a:r>
              <a:rPr lang="en-US" sz="1800" b="0">
                <a:solidFill>
                  <a:srgbClr val="2F3A44"/>
                </a:solidFill>
              </a:rPr>
              <a:t>Live search suggestions are fetched through an API endpoint for faster discovery.</a:t>
            </a:r>
            <a:endParaRPr lang="en-US" sz="1800"/>
          </a:p>
          <a:p>
            <a:pPr>
              <a:buChar char="•"/>
            </a:pPr>
            <a:r>
              <a:rPr lang="en-US" sz="1800" b="0">
                <a:solidFill>
                  <a:srgbClr val="2F3A44"/>
                </a:solidFill>
              </a:rPr>
              <a:t>Scroll-based reveal animations and dynamic booking totals make the interface feel modern.</a:t>
            </a:r>
            <a:endParaRPr lang="en-US" sz="1800"/>
          </a:p>
        </p:txBody>
      </p:sp>
      <p:sp>
        <p:nvSpPr>
          <p:cNvPr id="8" name="Footer Text"/>
          <p:cNvSpPr txBox="1"/>
          <p:nvPr/>
        </p:nvSpPr>
        <p:spPr>
          <a:xfrm>
            <a:off x="9600000" y="6320000"/>
            <a:ext cx="18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None/>
            </a:pPr>
            <a:r>
              <a:rPr lang="en-US" sz="1100" b="1">
                <a:solidFill>
                  <a:srgbClr val="F7F3EC"/>
                </a:solidFill>
              </a:rPr>
              <a:t>Slide 11 of 13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1E2A39"/>
          </a:solidFill>
          <a:ln>
            <a:noFill/>
          </a:ln>
        </p:spPr>
      </p:sp>
      <p:sp>
        <p:nvSpPr>
          <p:cNvPr id="3" name="Accent Block"/>
          <p:cNvSpPr/>
          <p:nvPr/>
        </p:nvSpPr>
        <p:spPr>
          <a:xfrm>
            <a:off x="0" y="720000"/>
            <a:ext cx="1450000" cy="61400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Footer"/>
          <p:cNvSpPr/>
          <p:nvPr/>
        </p:nvSpPr>
        <p:spPr>
          <a:xfrm>
            <a:off x="0" y="6180000"/>
            <a:ext cx="12192000" cy="678000"/>
          </a:xfrm>
          <a:prstGeom prst="rect">
            <a:avLst/>
          </a:prstGeom>
          <a:solidFill>
            <a:srgbClr val="1E2A39"/>
          </a:solidFill>
          <a:ln>
            <a:noFill/>
          </a:ln>
        </p:spPr>
      </p:sp>
      <p:sp>
        <p:nvSpPr>
          <p:cNvPr id="5" name="Title"/>
          <p:cNvSpPr txBox="1"/>
          <p:nvPr/>
        </p:nvSpPr>
        <p:spPr>
          <a:xfrm>
            <a:off x="1850000" y="1020000"/>
            <a:ext cx="9300000" cy="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None/>
            </a:pPr>
            <a:r>
              <a:rPr lang="en-US" sz="2600" b="1">
                <a:solidFill>
                  <a:srgbClr val="1E2A39"/>
                </a:solidFill>
              </a:rPr>
              <a:t>Benefits and Future Scope</a:t>
            </a:r>
            <a:endParaRPr lang="en-US" sz="2600"/>
          </a:p>
        </p:txBody>
      </p:sp>
      <p:sp>
        <p:nvSpPr>
          <p:cNvPr id="6" name="Subtitle"/>
          <p:cNvSpPr txBox="1"/>
          <p:nvPr/>
        </p:nvSpPr>
        <p:spPr>
          <a:xfrm>
            <a:off x="1850000" y="1880000"/>
            <a:ext cx="90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None/>
            </a:pPr>
            <a:r>
              <a:rPr lang="en-US" sz="1280" b="1">
                <a:solidFill>
                  <a:srgbClr val="0E7490"/>
                </a:solidFill>
              </a:rPr>
              <a:t>Why this project matters</a:t>
            </a:r>
            <a:endParaRPr lang="en-US" sz="1280"/>
          </a:p>
        </p:txBody>
      </p:sp>
      <p:sp>
        <p:nvSpPr>
          <p:cNvPr id="7" name="Body"/>
          <p:cNvSpPr txBox="1"/>
          <p:nvPr/>
        </p:nvSpPr>
        <p:spPr>
          <a:xfrm>
            <a:off x="1850000" y="2480000"/>
            <a:ext cx="9300000" cy="30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Char char="•"/>
            </a:pPr>
            <a:r>
              <a:rPr lang="en-US" sz="1800" b="0">
                <a:solidFill>
                  <a:srgbClr val="2F3A44"/>
                </a:solidFill>
              </a:rPr>
              <a:t>Demonstrates practical integration of frontend, backend, and database concepts in one project.</a:t>
            </a:r>
            <a:endParaRPr lang="en-US" sz="1800"/>
          </a:p>
          <a:p>
            <a:pPr>
              <a:buChar char="•"/>
            </a:pPr>
            <a:r>
              <a:rPr lang="en-US" sz="1800" b="0">
                <a:solidFill>
                  <a:srgbClr val="2F3A44"/>
                </a:solidFill>
              </a:rPr>
              <a:t>Can be extended with payment gateway support, admin panel, cancellation flow, and wishlists.</a:t>
            </a:r>
            <a:endParaRPr lang="en-US" sz="1800"/>
          </a:p>
          <a:p>
            <a:pPr>
              <a:buChar char="•"/>
            </a:pPr>
            <a:r>
              <a:rPr lang="en-US" sz="1800" b="0">
                <a:solidFill>
                  <a:srgbClr val="2F3A44"/>
                </a:solidFill>
              </a:rPr>
              <a:t>Further improvements could include room availability, recommendation engine, and deployment to cloud hosting.</a:t>
            </a:r>
            <a:endParaRPr lang="en-US" sz="1800"/>
          </a:p>
        </p:txBody>
      </p:sp>
      <p:sp>
        <p:nvSpPr>
          <p:cNvPr id="8" name="Footer Text"/>
          <p:cNvSpPr txBox="1"/>
          <p:nvPr/>
        </p:nvSpPr>
        <p:spPr>
          <a:xfrm>
            <a:off x="9600000" y="6320000"/>
            <a:ext cx="18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None/>
            </a:pPr>
            <a:r>
              <a:rPr lang="en-US" sz="1100" b="1">
                <a:solidFill>
                  <a:srgbClr val="F7F3EC"/>
                </a:solidFill>
              </a:rPr>
              <a:t>Slide 12 of 13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1E2A39"/>
          </a:solidFill>
          <a:ln>
            <a:noFill/>
          </a:ln>
        </p:spPr>
      </p:sp>
      <p:sp>
        <p:nvSpPr>
          <p:cNvPr id="3" name="Accent Block"/>
          <p:cNvSpPr/>
          <p:nvPr/>
        </p:nvSpPr>
        <p:spPr>
          <a:xfrm>
            <a:off x="0" y="720000"/>
            <a:ext cx="1450000" cy="61400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Footer"/>
          <p:cNvSpPr/>
          <p:nvPr/>
        </p:nvSpPr>
        <p:spPr>
          <a:xfrm>
            <a:off x="0" y="6180000"/>
            <a:ext cx="12192000" cy="678000"/>
          </a:xfrm>
          <a:prstGeom prst="rect">
            <a:avLst/>
          </a:prstGeom>
          <a:solidFill>
            <a:srgbClr val="1E2A39"/>
          </a:solidFill>
          <a:ln>
            <a:noFill/>
          </a:ln>
        </p:spPr>
      </p:sp>
      <p:sp>
        <p:nvSpPr>
          <p:cNvPr id="5" name="Title"/>
          <p:cNvSpPr txBox="1"/>
          <p:nvPr/>
        </p:nvSpPr>
        <p:spPr>
          <a:xfrm>
            <a:off x="1850000" y="1020000"/>
            <a:ext cx="9300000" cy="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None/>
            </a:pPr>
            <a:r>
              <a:rPr lang="en-US" sz="2600" b="1">
                <a:solidFill>
                  <a:srgbClr val="1E2A39"/>
                </a:solidFill>
              </a:rPr>
              <a:t>Conclusion</a:t>
            </a:r>
            <a:endParaRPr lang="en-US" sz="2600"/>
          </a:p>
        </p:txBody>
      </p:sp>
      <p:sp>
        <p:nvSpPr>
          <p:cNvPr id="6" name="Subtitle"/>
          <p:cNvSpPr txBox="1"/>
          <p:nvPr/>
        </p:nvSpPr>
        <p:spPr>
          <a:xfrm>
            <a:off x="1850000" y="1880000"/>
            <a:ext cx="90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None/>
            </a:pPr>
            <a:r>
              <a:rPr lang="en-US" sz="1280" b="1">
                <a:solidFill>
                  <a:srgbClr val="0E7490"/>
                </a:solidFill>
              </a:rPr>
              <a:t>Project outcome</a:t>
            </a:r>
            <a:endParaRPr lang="en-US" sz="1280"/>
          </a:p>
        </p:txBody>
      </p:sp>
      <p:sp>
        <p:nvSpPr>
          <p:cNvPr id="7" name="Body"/>
          <p:cNvSpPr txBox="1"/>
          <p:nvPr/>
        </p:nvSpPr>
        <p:spPr>
          <a:xfrm>
            <a:off x="1850000" y="2480000"/>
            <a:ext cx="9300000" cy="30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Char char="•"/>
            </a:pPr>
            <a:r>
              <a:rPr lang="en-US" sz="1800" b="0">
                <a:solidFill>
                  <a:srgbClr val="2F3A44"/>
                </a:solidFill>
              </a:rPr>
              <a:t>StayAtlas delivers a complete hotel listing and booking workflow with a clean user experience.</a:t>
            </a:r>
            <a:endParaRPr lang="en-US" sz="1800"/>
          </a:p>
          <a:p>
            <a:pPr>
              <a:buChar char="•"/>
            </a:pPr>
            <a:r>
              <a:rPr lang="en-US" sz="1800" b="0">
                <a:solidFill>
                  <a:srgbClr val="2F3A44"/>
                </a:solidFill>
              </a:rPr>
              <a:t>The project shows strong understanding of full-stack web development and relational data design.</a:t>
            </a:r>
            <a:endParaRPr lang="en-US" sz="1800"/>
          </a:p>
          <a:p>
            <a:pPr>
              <a:buChar char="•"/>
            </a:pPr>
            <a:r>
              <a:rPr lang="en-US" sz="1800" b="0">
                <a:solidFill>
                  <a:srgbClr val="2F3A44"/>
                </a:solidFill>
              </a:rPr>
              <a:t>It is suitable for demonstrating software architecture, CRUD operations, validation, and UI thinking in a college presentation.</a:t>
            </a:r>
            <a:endParaRPr lang="en-US" sz="1800"/>
          </a:p>
        </p:txBody>
      </p:sp>
      <p:sp>
        <p:nvSpPr>
          <p:cNvPr id="8" name="Footer Text"/>
          <p:cNvSpPr txBox="1"/>
          <p:nvPr/>
        </p:nvSpPr>
        <p:spPr>
          <a:xfrm>
            <a:off x="9600000" y="6320000"/>
            <a:ext cx="18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None/>
            </a:pPr>
            <a:r>
              <a:rPr lang="en-US" sz="1100" b="1">
                <a:solidFill>
                  <a:srgbClr val="F7F3EC"/>
                </a:solidFill>
              </a:rPr>
              <a:t>Slide 13 of 13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ayAtlas Theme">
  <a:themeElements>
    <a:clrScheme name="StayAtlas">
      <a:dk1>
        <a:srgbClr val="1E2A39"/>
      </a:dk1>
      <a:lt1>
        <a:srgbClr val="FFFFFF"/>
      </a:lt1>
      <a:dk2>
        <a:srgbClr val="36404D"/>
      </a:dk2>
      <a:lt2>
        <a:srgbClr val="F7F3EC"/>
      </a:lt2>
      <a:accent1>
        <a:srgbClr val="0E7490"/>
      </a:accent1>
      <a:accent2>
        <a:srgbClr val="C56E3D"/>
      </a:accent2>
      <a:accent3>
        <a:srgbClr val="B69A56"/>
      </a:accent3>
      <a:accent4>
        <a:srgbClr val="567189"/>
      </a:accent4>
      <a:accent5>
        <a:srgbClr val="5A7D5A"/>
      </a:accent5>
      <a:accent6>
        <a:srgbClr val="9F4C4C"/>
      </a:accent6>
      <a:hlink>
        <a:srgbClr val="0E7490"/>
      </a:hlink>
      <a:folHlink>
        <a:srgbClr val="7C3AED"/>
      </a:folHlink>
    </a:clrScheme>
    <a:fontScheme name="StayAtlas Fonts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StayAtlas Format">
      <a:fillStyleLst>
        <a:solidFill>
          <a:schemeClr val="phClr"/>
        </a:solidFill>
        <a:gradFill rotWithShape="1">
          <a:gsLst>
            <a:gs pos="0">
              <a:schemeClr val="accent1"/>
            </a:gs>
            <a:gs pos="100000">
              <a:schemeClr val="accent2"/>
            </a:gs>
          </a:gsLst>
          <a:lin ang="5400000" scaled="0"/>
        </a:gradFill>
      </a:fillStyleLst>
      <a:lnStyleLst>
        <a:ln w="12700">
          <a:solidFill>
            <a:schemeClr val="accent1"/>
          </a:solidFill>
        </a:ln>
      </a:lnStyleLst>
      <a:effectStyleLst>
        <a:effectStyle>
          <a:effectLst/>
        </a:effectStyle>
      </a:effectStyleLst>
      <a:bgFillStyleLst>
        <a:solidFill>
          <a:schemeClr val="lt2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13</Slides>
  <Notes>0</Notes>
  <HiddenSlides>0</HiddenSlides>
  <MMClips>0</MMClips>
  <ScaleCrop>false</ScaleCrop>
  <HeadingPairs>
    <vt:vector size="2" baseType="variant">
      <vt:variant>
        <vt:lpstr>Slides</vt:lpstr>
      </vt:variant>
      <vt:variant>
        <vt:i4>13</vt:i4>
      </vt:variant>
    </vt:vector>
  </HeadingPairs>
  <TitlesOfParts>
    <vt:vector size="13" baseType="lpstr"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StayAtlas College Presentation</dc:title>
  <dc:subject>Hotel Listing Website Project Presentation</dc:subject>
  <dc:creator>OpenAI Codex</dc:creator>
  <cp:keywords>StayAtlas, Flask, Hotel Listing, College Presentation</cp:keywords>
  <dc:description>13-slide presentation for the StayAtlas hotel listing project.</dc:description>
  <cp:lastModifiedBy>OpenAI Codex</cp:lastModifiedBy>
  <dcterms:created xsi:type="dcterms:W3CDTF">2026-04-08T10:52:29Z</dcterms:created>
  <dcterms:modified xsi:type="dcterms:W3CDTF">2026-04-08T10:52:29Z</dcterms:modified>
</cp:coreProperties>
</file>